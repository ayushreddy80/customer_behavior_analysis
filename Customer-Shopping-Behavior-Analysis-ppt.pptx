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Unbounded"/>
      <p:regular r:id="rId17"/>
    </p:embeddedFont>
    <p:embeddedFont>
      <p:font typeface="Unbounded Bold"/>
      <p:regular r:id="rId18"/>
    </p:embeddedFont>
    <p:embeddedFont>
      <p:font typeface="Cabin"/>
      <p:regular r:id="rId19"/>
    </p:embeddedFont>
    <p:embeddedFont>
      <p:font typeface="Cabin Bold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1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78013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884512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Uncovering spending patterns, customer segments, and product preferences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to guide strategic business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4458"/>
            <a:ext cx="469962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38473"/>
            <a:ext cx="3954884" cy="394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3,900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620962" y="182039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Total 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130103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Transactional records analyzed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5464" y="123847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18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5762848" y="1919139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5464" y="222885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Demographics, behavior &amp; purchases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2842245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37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1620962" y="352291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3577" y="3832622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 Review Rating column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5464" y="2842245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25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5762848" y="3522911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 Types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5464" y="3832622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Across 4 categories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3577" y="4240262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Key features include customer demographics (Age, Gender, Location, Subscription Status), purchase details (Item, Category, Amount, Season), and shopping behavior (Discount, Promo Code, Frequency, Review Rating, Shipping Type).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1724" y="382191"/>
            <a:ext cx="4749552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Preparation in Python</a:t>
            </a:r>
            <a:endParaRPr lang="en-US" sz="2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3442" y="1388418"/>
            <a:ext cx="206871" cy="2068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359920" y="1384176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Load &amp; Explore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4359920" y="1663303"/>
            <a:ext cx="430135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Imported via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; used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and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structure and summary statistics.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3442" y="2350443"/>
            <a:ext cx="206871" cy="2068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359920" y="2346201"/>
            <a:ext cx="19654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Clean &amp; Standardize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359920" y="2625328"/>
            <a:ext cx="4301356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Imputed missing Review Ratings using median per category; renamed columns to snake_case.</a:t>
            </a:r>
            <a:endParaRPr lang="en-US" sz="10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3442" y="3307705"/>
            <a:ext cx="206871" cy="20687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59920" y="3303463"/>
            <a:ext cx="1943323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Engineering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4359920" y="3582591"/>
            <a:ext cx="430135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Created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bins and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; dropped redundant 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highlight>
                  <a:srgbClr val="1E3543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column.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3442" y="4274493"/>
            <a:ext cx="206871" cy="20687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359920" y="4270251"/>
            <a:ext cx="209267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Database Integration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4359920" y="4549378"/>
            <a:ext cx="430135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Loaded cleaned DataFrame into PostgreSQL for SQL-based analysis.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4475411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400838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Male Customers Drive 2×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157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in total revenue compared to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$75,191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from female customers — a significant gap that warrants targeted marketing strategies.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analysis was performed in PostgreSQL, comparing total purchase amounts grouped by gender across all 3,900 transactions.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783222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Spending, Shipping &amp; Subscriptions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828455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Shipping &amp; Subscription Insights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2423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Express shipping customers spend slightly more on average (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vs.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$58.46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Among subscribers: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1,053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$59.49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total revenue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$62,645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Non-subscribers: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2,847 customers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avg spend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$59.87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total revenue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$170,436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Of customers with more than 5 purchases,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958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are subscribers and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2,518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are not — suggesting repeat buying does not strongly correlate with subscription status.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55" y="379363"/>
            <a:ext cx="7894290" cy="715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Products by Rating &amp; Discount Dependency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624855" y="1341313"/>
            <a:ext cx="3326681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5 Products by Average Rating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855" y="1631156"/>
            <a:ext cx="3798912" cy="273441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24995" y="1341313"/>
            <a:ext cx="3288655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Products Most Often Discounted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995" y="1631156"/>
            <a:ext cx="3798912" cy="27344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4855" y="4587776"/>
            <a:ext cx="8351490" cy="176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Hats and Sneakers appear in both lists — highly rated yet heavily discounted, suggesting strong customer demand or promotional strategy.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2724" y="385316"/>
            <a:ext cx="5253186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Customer Segmentation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724" y="1124694"/>
            <a:ext cx="3921026" cy="28223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5013" y="1108770"/>
            <a:ext cx="2496666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Segment Breakdown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45013" y="1438721"/>
            <a:ext cx="437822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Customers classified by purchase history into three segments: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5013" y="1793677"/>
            <a:ext cx="3921026" cy="855762"/>
          </a:xfrm>
          <a:prstGeom prst="roundRect">
            <a:avLst>
              <a:gd name="adj" fmla="val 10685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25963" y="1793677"/>
            <a:ext cx="76200" cy="855762"/>
          </a:xfrm>
          <a:prstGeom prst="roundRect">
            <a:avLst>
              <a:gd name="adj" fmla="val 27151"/>
            </a:avLst>
          </a:prstGeom>
          <a:solidFill>
            <a:srgbClr val="0A988B"/>
          </a:solidFill>
          <a:ln/>
        </p:spPr>
      </p:sp>
      <p:sp>
        <p:nvSpPr>
          <p:cNvPr id="8" name="Text 5"/>
          <p:cNvSpPr/>
          <p:nvPr/>
        </p:nvSpPr>
        <p:spPr>
          <a:xfrm>
            <a:off x="4959102" y="1950616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 — 3,116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959102" y="2280568"/>
            <a:ext cx="354999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Overwhelming majority of the customer base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45013" y="2776538"/>
            <a:ext cx="3921026" cy="855762"/>
          </a:xfrm>
          <a:prstGeom prst="roundRect">
            <a:avLst>
              <a:gd name="adj" fmla="val 10685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25963" y="2776538"/>
            <a:ext cx="76200" cy="855762"/>
          </a:xfrm>
          <a:prstGeom prst="roundRect">
            <a:avLst>
              <a:gd name="adj" fmla="val 27151"/>
            </a:avLst>
          </a:prstGeom>
          <a:solidFill>
            <a:srgbClr val="0A988B"/>
          </a:solidFill>
          <a:ln/>
        </p:spPr>
      </p:sp>
      <p:sp>
        <p:nvSpPr>
          <p:cNvPr id="12" name="Text 9"/>
          <p:cNvSpPr/>
          <p:nvPr/>
        </p:nvSpPr>
        <p:spPr>
          <a:xfrm>
            <a:off x="4959102" y="2933477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Returning — 701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59102" y="3263429"/>
            <a:ext cx="354999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Repeat buyers with growth potential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45013" y="3759398"/>
            <a:ext cx="3921026" cy="855762"/>
          </a:xfrm>
          <a:prstGeom prst="roundRect">
            <a:avLst>
              <a:gd name="adj" fmla="val 10685"/>
            </a:avLst>
          </a:prstGeom>
          <a:solidFill>
            <a:srgbClr val="112836"/>
          </a:solidFill>
          <a:ln w="19050">
            <a:solidFill>
              <a:srgbClr val="4960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25963" y="3759398"/>
            <a:ext cx="76200" cy="855762"/>
          </a:xfrm>
          <a:prstGeom prst="roundRect">
            <a:avLst>
              <a:gd name="adj" fmla="val 27151"/>
            </a:avLst>
          </a:prstGeom>
          <a:solidFill>
            <a:srgbClr val="0A988B"/>
          </a:solidFill>
          <a:ln/>
        </p:spPr>
      </p:sp>
      <p:sp>
        <p:nvSpPr>
          <p:cNvPr id="16" name="Text 13"/>
          <p:cNvSpPr/>
          <p:nvPr/>
        </p:nvSpPr>
        <p:spPr>
          <a:xfrm>
            <a:off x="4959102" y="3916338"/>
            <a:ext cx="16225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New — 83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959102" y="4246290"/>
            <a:ext cx="3549997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First-time buyers, key acquisition target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514238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334573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Young Adults Lead Revenue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1810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Young Adults contribute the highest total revenue at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, followed closely by Middle-aged (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$59,197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), Adult (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$55,978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), and Senior (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$55,763</a:t>
            </a:r>
            <a:pPr algn="l" indent="0" marL="0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) groups.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Revenue is relatively evenly distributed across age groups, with Young Adults generating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11% more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than Seniors — a modest but meaningful difference for targeted marketing.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8464" y="348779"/>
            <a:ext cx="4576911" cy="33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Top Products by Category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28464" y="847055"/>
            <a:ext cx="7744197" cy="157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The top 3 most purchased products within each of the four categories:</a:t>
            </a:r>
            <a:endParaRPr lang="en-US" sz="8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464" y="1193453"/>
            <a:ext cx="3506614" cy="350661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64" y="1193453"/>
            <a:ext cx="3506614" cy="35066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13536" y="2355131"/>
            <a:ext cx="1886471" cy="164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Category Leaders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13536" y="2604195"/>
            <a:ext cx="3506614" cy="942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Accessories:</a:t>
            </a:r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Jewelry leads with 171 orders, followed by Sunglasses and Belt (161 each).</a:t>
            </a:r>
            <a:endParaRPr lang="en-US" sz="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Clothing:</a:t>
            </a:r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Blouse and Pants tie at 171 orders; Shirt follows closely at 169.</a:t>
            </a:r>
            <a:endParaRPr lang="en-US" sz="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Footwear:</a:t>
            </a:r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Sandals top the category with 160 orders, then Shoes (150) and Sneakers (145).</a:t>
            </a:r>
            <a:endParaRPr lang="en-US" sz="8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850" b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Outerwear:</a:t>
            </a:r>
            <a:pPr algn="l" indent="0" marL="0">
              <a:lnSpc>
                <a:spcPct val="117000"/>
              </a:lnSpc>
              <a:buNone/>
            </a:pPr>
            <a:r>
              <a:rPr lang="en-US" sz="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Jacket (163) and Coat (161) dominate this category.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281" y="415082"/>
            <a:ext cx="624713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Business Recommendations</a:t>
            </a:r>
            <a:endParaRPr lang="en-US" sz="2650" dirty="0"/>
          </a:p>
        </p:txBody>
      </p:sp>
      <p:sp>
        <p:nvSpPr>
          <p:cNvPr id="3" name="Shape 1"/>
          <p:cNvSpPr/>
          <p:nvPr/>
        </p:nvSpPr>
        <p:spPr>
          <a:xfrm>
            <a:off x="507281" y="1122090"/>
            <a:ext cx="2616250" cy="1847106"/>
          </a:xfrm>
          <a:prstGeom prst="roundRect">
            <a:avLst>
              <a:gd name="adj" fmla="val 1177"/>
            </a:avLst>
          </a:prstGeom>
          <a:solidFill>
            <a:srgbClr val="304755"/>
          </a:solidFill>
          <a:ln/>
        </p:spPr>
      </p:sp>
      <p:sp>
        <p:nvSpPr>
          <p:cNvPr id="4" name="Shape 2"/>
          <p:cNvSpPr/>
          <p:nvPr/>
        </p:nvSpPr>
        <p:spPr>
          <a:xfrm>
            <a:off x="652165" y="1266974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0A988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748" y="1386483"/>
            <a:ext cx="195635" cy="19563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2165" y="1842120"/>
            <a:ext cx="207771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52165" y="2139404"/>
            <a:ext cx="2326481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Promote exclusive subscriber benefits to convert the 73% non-subscriber base.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3875" y="1122090"/>
            <a:ext cx="2616250" cy="1847106"/>
          </a:xfrm>
          <a:prstGeom prst="roundRect">
            <a:avLst>
              <a:gd name="adj" fmla="val 1177"/>
            </a:avLst>
          </a:prstGeom>
          <a:solidFill>
            <a:srgbClr val="304755"/>
          </a:solidFill>
          <a:ln/>
        </p:spPr>
      </p:sp>
      <p:sp>
        <p:nvSpPr>
          <p:cNvPr id="9" name="Shape 6"/>
          <p:cNvSpPr/>
          <p:nvPr/>
        </p:nvSpPr>
        <p:spPr>
          <a:xfrm>
            <a:off x="3408759" y="1266974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0A988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28343" y="1386483"/>
            <a:ext cx="195635" cy="195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8759" y="1842120"/>
            <a:ext cx="1809229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408759" y="2139404"/>
            <a:ext cx="2326481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Reward repeat buyers to grow the Loyal segment beyond 3,116 customers.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0470" y="1122090"/>
            <a:ext cx="2616250" cy="1847106"/>
          </a:xfrm>
          <a:prstGeom prst="roundRect">
            <a:avLst>
              <a:gd name="adj" fmla="val 1177"/>
            </a:avLst>
          </a:prstGeom>
          <a:solidFill>
            <a:srgbClr val="304755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5354" y="1266974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0A988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4937" y="1386483"/>
            <a:ext cx="195635" cy="195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5354" y="1842120"/>
            <a:ext cx="2313980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165354" y="2139404"/>
            <a:ext cx="2326481" cy="6849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Balance sales boosts with margin control on heavily discounted products.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7281" y="3109540"/>
            <a:ext cx="3994547" cy="1618804"/>
          </a:xfrm>
          <a:prstGeom prst="roundRect">
            <a:avLst>
              <a:gd name="adj" fmla="val 1343"/>
            </a:avLst>
          </a:prstGeom>
          <a:solidFill>
            <a:srgbClr val="304755"/>
          </a:solidFill>
          <a:ln/>
        </p:spPr>
      </p:sp>
      <p:sp>
        <p:nvSpPr>
          <p:cNvPr id="19" name="Shape 14"/>
          <p:cNvSpPr/>
          <p:nvPr/>
        </p:nvSpPr>
        <p:spPr>
          <a:xfrm>
            <a:off x="652165" y="3254425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0A988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1748" y="3373934"/>
            <a:ext cx="195635" cy="19563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2165" y="3829571"/>
            <a:ext cx="2014984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52165" y="4126855"/>
            <a:ext cx="370477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Focus on high-revenue age groups (Young Adults) and express-shipping users.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642172" y="3109540"/>
            <a:ext cx="3994547" cy="1618804"/>
          </a:xfrm>
          <a:prstGeom prst="roundRect">
            <a:avLst>
              <a:gd name="adj" fmla="val 1343"/>
            </a:avLst>
          </a:prstGeom>
          <a:solidFill>
            <a:srgbClr val="304755"/>
          </a:solidFill>
          <a:ln/>
        </p:spPr>
      </p:sp>
      <p:sp>
        <p:nvSpPr>
          <p:cNvPr id="24" name="Shape 18"/>
          <p:cNvSpPr/>
          <p:nvPr/>
        </p:nvSpPr>
        <p:spPr>
          <a:xfrm>
            <a:off x="4787057" y="3254425"/>
            <a:ext cx="434801" cy="434801"/>
          </a:xfrm>
          <a:prstGeom prst="roundRect">
            <a:avLst>
              <a:gd name="adj" fmla="val 13142630"/>
            </a:avLst>
          </a:prstGeom>
          <a:solidFill>
            <a:srgbClr val="0A988B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6640" y="3373934"/>
            <a:ext cx="195635" cy="19563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87057" y="3829571"/>
            <a:ext cx="1993329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Product Positioning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787057" y="4126855"/>
            <a:ext cx="370477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Highlight top-rated and best-selling products in marketing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2026-05-24T12:09:57Z</dcterms:created>
  <dcterms:modified xsi:type="dcterms:W3CDTF">2026-05-24T12:09:57Z</dcterms:modified>
</cp:coreProperties>
</file>